
<file path=[Content_Types].xml><?xml version="1.0" encoding="utf-8"?>
<Types xmlns="http://schemas.openxmlformats.org/package/2006/content-types">
  <Default Extension="jpg" ContentType="image/jp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Lst>
  <p:sldSz cx="7772400" cy="10058400"/>
  <p:notesSz cx="7772400" cy="100584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4"/>
  </p:normalViewPr>
  <p:slideViewPr>
    <p:cSldViewPr>
      <p:cViewPr varScale="1">
        <p:scale>
          <a:sx n="51" d="100"/>
          <a:sy n="51" d="100"/>
        </p:scale>
        <p:origin x="2582" y="43"/>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82930" y="3118104"/>
            <a:ext cx="6606540" cy="2112264"/>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165860" y="5632704"/>
            <a:ext cx="5440680" cy="25146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10/11/2026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10/11/2026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sz="half" idx="2"/>
          </p:nvPr>
        </p:nvSpPr>
        <p:spPr>
          <a:xfrm>
            <a:off x="388620" y="2313432"/>
            <a:ext cx="3380994" cy="663854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002786" y="2313432"/>
            <a:ext cx="3380994" cy="663854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10/11/2026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10/11/2026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10/11/2026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88620" y="402336"/>
            <a:ext cx="6995160" cy="1609344"/>
          </a:xfrm>
          <a:prstGeom prst="rect">
            <a:avLst/>
          </a:prstGeom>
        </p:spPr>
        <p:txBody>
          <a:bodyPr wrap="square" lIns="0" tIns="0" rIns="0" bIns="0">
            <a:spAutoFit/>
          </a:bodyPr>
          <a:lstStyle>
            <a:lvl1pPr>
              <a:defRPr/>
            </a:lvl1pPr>
          </a:lstStyle>
          <a:p>
            <a:endParaRPr/>
          </a:p>
        </p:txBody>
      </p:sp>
      <p:sp>
        <p:nvSpPr>
          <p:cNvPr id="3" name="Holder 3"/>
          <p:cNvSpPr>
            <a:spLocks noGrp="1"/>
          </p:cNvSpPr>
          <p:nvPr>
            <p:ph type="body" idx="1"/>
          </p:nvPr>
        </p:nvSpPr>
        <p:spPr>
          <a:xfrm>
            <a:off x="388620" y="2313432"/>
            <a:ext cx="6995160" cy="6638544"/>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2642616" y="9354312"/>
            <a:ext cx="2487168" cy="50292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388620" y="9354312"/>
            <a:ext cx="1787652" cy="5029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10/11/2026</a:t>
            </a:fld>
            <a:endParaRPr lang="en-US"/>
          </a:p>
        </p:txBody>
      </p:sp>
      <p:sp>
        <p:nvSpPr>
          <p:cNvPr id="6" name="Holder 6"/>
          <p:cNvSpPr>
            <a:spLocks noGrp="1"/>
          </p:cNvSpPr>
          <p:nvPr>
            <p:ph type="sldNum" sz="quarter" idx="7"/>
          </p:nvPr>
        </p:nvSpPr>
        <p:spPr>
          <a:xfrm>
            <a:off x="5596128" y="9354312"/>
            <a:ext cx="1787652" cy="50292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549238" y="943689"/>
            <a:ext cx="4673917" cy="443711"/>
          </a:xfrm>
          <a:prstGeom prst="rect">
            <a:avLst/>
          </a:prstGeom>
        </p:spPr>
        <p:txBody>
          <a:bodyPr vert="horz" wrap="square" lIns="0" tIns="12700" rIns="0" bIns="0" rtlCol="0" anchor="ctr">
            <a:spAutoFit/>
          </a:bodyPr>
          <a:lstStyle/>
          <a:p>
            <a:pPr marL="12700" algn="ctr">
              <a:lnSpc>
                <a:spcPct val="100000"/>
              </a:lnSpc>
              <a:spcBef>
                <a:spcPts val="100"/>
              </a:spcBef>
            </a:pPr>
            <a:r>
              <a:rPr lang="en-US" sz="1400" b="1" u="sng" dirty="0">
                <a:uFill>
                  <a:solidFill>
                    <a:srgbClr val="000000"/>
                  </a:solidFill>
                </a:uFill>
                <a:latin typeface="Times New Roman"/>
                <a:cs typeface="Times New Roman"/>
              </a:rPr>
              <a:t>DATA STRUCTURES AND ALGORITHMS – 3 (25CS2103E)</a:t>
            </a:r>
            <a:r>
              <a:rPr lang="en-US" sz="1400" b="1" dirty="0"/>
              <a:t>25CS2103E)</a:t>
            </a:r>
            <a:endParaRPr sz="1400" b="1" dirty="0">
              <a:latin typeface="Times New Roman"/>
              <a:cs typeface="Times New Roman"/>
            </a:endParaRPr>
          </a:p>
        </p:txBody>
      </p:sp>
      <p:sp>
        <p:nvSpPr>
          <p:cNvPr id="3" name="object 3"/>
          <p:cNvSpPr txBox="1"/>
          <p:nvPr/>
        </p:nvSpPr>
        <p:spPr>
          <a:xfrm>
            <a:off x="1117519" y="2195979"/>
            <a:ext cx="5537354" cy="1674817"/>
          </a:xfrm>
          <a:prstGeom prst="rect">
            <a:avLst/>
          </a:prstGeom>
        </p:spPr>
        <p:txBody>
          <a:bodyPr vert="horz" wrap="square" lIns="0" tIns="12700" rIns="0" bIns="0" rtlCol="0" anchor="ctr">
            <a:spAutoFit/>
          </a:bodyPr>
          <a:lstStyle/>
          <a:p>
            <a:pPr marL="458470" marR="450850" algn="ctr">
              <a:spcAft>
                <a:spcPts val="1200"/>
              </a:spcAft>
            </a:pPr>
            <a:r>
              <a:rPr sz="1800" b="1">
                <a:latin typeface="Arial"/>
              </a:rPr>
              <a:t>Smart Project Scheduler: Research-Integrated Project Scheduling</a:t>
            </a:r>
          </a:p>
          <a:p>
            <a:pPr algn="ctr">
              <a:spcAft>
                <a:spcPts val="400"/>
              </a:spcAft>
            </a:pPr>
            <a:r>
              <a:rPr sz="1400" b="1">
                <a:latin typeface="Arial"/>
              </a:rPr>
              <a:t>Team Members:</a:t>
            </a:r>
          </a:p>
          <a:p>
            <a:pPr algn="ctr"/>
            <a:r>
              <a:rPr sz="1300">
                <a:latin typeface="Arial"/>
              </a:rPr>
              <a:t>2520030606 – G. Tej Sahith</a:t>
            </a:r>
          </a:p>
          <a:p>
            <a:pPr algn="ctr"/>
            <a:r>
              <a:rPr sz="1300">
                <a:latin typeface="Arial"/>
              </a:rPr>
              <a:t>2520030295 – G. Venkat Sameer</a:t>
            </a:r>
          </a:p>
          <a:p>
            <a:pPr algn="ctr"/>
            <a:r>
              <a:rPr sz="1300">
                <a:latin typeface="Arial"/>
              </a:rPr>
              <a:t>2520030152 – A. Sreepad</a:t>
            </a:r>
          </a:p>
        </p:txBody>
      </p:sp>
      <p:sp>
        <p:nvSpPr>
          <p:cNvPr id="4" name="object 4"/>
          <p:cNvSpPr txBox="1"/>
          <p:nvPr/>
        </p:nvSpPr>
        <p:spPr>
          <a:xfrm>
            <a:off x="1549238" y="4313041"/>
            <a:ext cx="4673917" cy="382156"/>
          </a:xfrm>
          <a:prstGeom prst="rect">
            <a:avLst/>
          </a:prstGeom>
        </p:spPr>
        <p:txBody>
          <a:bodyPr vert="horz" wrap="square" lIns="0" tIns="12700" rIns="0" bIns="0" rtlCol="0" anchor="ctr">
            <a:spAutoFit/>
          </a:bodyPr>
          <a:lstStyle/>
          <a:p>
            <a:pPr marL="36195" algn="ctr">
              <a:lnSpc>
                <a:spcPct val="100000"/>
              </a:lnSpc>
              <a:spcBef>
                <a:spcPts val="100"/>
              </a:spcBef>
            </a:pPr>
            <a:r>
              <a:rPr sz="1200" dirty="0">
                <a:latin typeface="Arial"/>
              </a:rPr>
              <a:t>Supervised By: [</a:t>
            </a:r>
            <a:r>
              <a:rPr lang="en-US" sz="1200" dirty="0">
                <a:latin typeface="Arial"/>
              </a:rPr>
              <a:t>Dr J Sirisha Devi</a:t>
            </a:r>
            <a:r>
              <a:rPr sz="1200" dirty="0">
                <a:latin typeface="Arial"/>
              </a:rPr>
              <a:t>]</a:t>
            </a:r>
            <a:endParaRPr sz="1500" dirty="0">
              <a:latin typeface="Times New Roman"/>
              <a:cs typeface="Times New Roman"/>
            </a:endParaRPr>
          </a:p>
          <a:p>
            <a:pPr algn="ctr"/>
            <a:r>
              <a:rPr sz="1200" dirty="0">
                <a:latin typeface="Arial"/>
              </a:rPr>
              <a:t>]</a:t>
            </a:r>
          </a:p>
        </p:txBody>
      </p:sp>
      <p:pic>
        <p:nvPicPr>
          <p:cNvPr id="6" name="object 6"/>
          <p:cNvPicPr/>
          <p:nvPr/>
        </p:nvPicPr>
        <p:blipFill>
          <a:blip r:embed="rId2" cstate="print"/>
          <a:stretch>
            <a:fillRect/>
          </a:stretch>
        </p:blipFill>
        <p:spPr>
          <a:xfrm>
            <a:off x="2371977" y="5339564"/>
            <a:ext cx="3028438" cy="1050082"/>
          </a:xfrm>
          <a:prstGeom prst="rect">
            <a:avLst/>
          </a:prstGeom>
        </p:spPr>
      </p:pic>
      <p:sp>
        <p:nvSpPr>
          <p:cNvPr id="5" name="object 5"/>
          <p:cNvSpPr txBox="1"/>
          <p:nvPr/>
        </p:nvSpPr>
        <p:spPr>
          <a:xfrm>
            <a:off x="2224720" y="6872431"/>
            <a:ext cx="3322954" cy="507831"/>
          </a:xfrm>
          <a:prstGeom prst="rect">
            <a:avLst/>
          </a:prstGeom>
        </p:spPr>
        <p:txBody>
          <a:bodyPr vert="horz" wrap="square" lIns="0" tIns="12700" rIns="0" bIns="0" rtlCol="0" anchor="ctr">
            <a:spAutoFit/>
          </a:bodyPr>
          <a:lstStyle/>
          <a:p>
            <a:pPr algn="ctr">
              <a:lnSpc>
                <a:spcPct val="100000"/>
              </a:lnSpc>
              <a:spcBef>
                <a:spcPts val="100"/>
              </a:spcBef>
            </a:pPr>
            <a:r>
              <a:rPr sz="1200" b="1" dirty="0">
                <a:latin typeface="Times New Roman"/>
                <a:cs typeface="Times New Roman"/>
              </a:rPr>
              <a:t>Department</a:t>
            </a:r>
            <a:r>
              <a:rPr sz="1200" b="1" spc="-25" dirty="0">
                <a:latin typeface="Times New Roman"/>
                <a:cs typeface="Times New Roman"/>
              </a:rPr>
              <a:t> </a:t>
            </a:r>
            <a:r>
              <a:rPr sz="1200" b="1" dirty="0">
                <a:latin typeface="Times New Roman"/>
                <a:cs typeface="Times New Roman"/>
              </a:rPr>
              <a:t>of</a:t>
            </a:r>
            <a:r>
              <a:rPr sz="1200" b="1" spc="-20" dirty="0">
                <a:latin typeface="Times New Roman"/>
                <a:cs typeface="Times New Roman"/>
              </a:rPr>
              <a:t> </a:t>
            </a:r>
            <a:r>
              <a:rPr sz="1200" b="1" dirty="0">
                <a:latin typeface="Times New Roman"/>
                <a:cs typeface="Times New Roman"/>
              </a:rPr>
              <a:t>Computer</a:t>
            </a:r>
            <a:r>
              <a:rPr sz="1200" b="1" spc="-25" dirty="0">
                <a:latin typeface="Times New Roman"/>
                <a:cs typeface="Times New Roman"/>
              </a:rPr>
              <a:t> </a:t>
            </a:r>
            <a:r>
              <a:rPr sz="1200" b="1" dirty="0">
                <a:latin typeface="Times New Roman"/>
                <a:cs typeface="Times New Roman"/>
              </a:rPr>
              <a:t>Science</a:t>
            </a:r>
            <a:r>
              <a:rPr sz="1200" b="1" spc="-20" dirty="0">
                <a:latin typeface="Times New Roman"/>
                <a:cs typeface="Times New Roman"/>
              </a:rPr>
              <a:t> </a:t>
            </a:r>
            <a:r>
              <a:rPr sz="1200" b="1" dirty="0">
                <a:latin typeface="Times New Roman"/>
                <a:cs typeface="Times New Roman"/>
              </a:rPr>
              <a:t>and</a:t>
            </a:r>
            <a:r>
              <a:rPr sz="1200" b="1" spc="-25" dirty="0">
                <a:latin typeface="Times New Roman"/>
                <a:cs typeface="Times New Roman"/>
              </a:rPr>
              <a:t> </a:t>
            </a:r>
            <a:r>
              <a:rPr sz="1200" b="1" spc="-10" dirty="0">
                <a:latin typeface="Times New Roman"/>
                <a:cs typeface="Times New Roman"/>
              </a:rPr>
              <a:t>Engineering</a:t>
            </a:r>
            <a:endParaRPr sz="1200" dirty="0">
              <a:latin typeface="Times New Roman"/>
              <a:cs typeface="Times New Roman"/>
            </a:endParaRPr>
          </a:p>
          <a:p>
            <a:pPr marL="731520" marR="723900" algn="ctr">
              <a:lnSpc>
                <a:spcPct val="197900"/>
              </a:lnSpc>
            </a:pPr>
            <a:r>
              <a:rPr sz="1200" b="1" dirty="0">
                <a:latin typeface="Times New Roman"/>
                <a:cs typeface="Times New Roman"/>
              </a:rPr>
              <a:t>KLH</a:t>
            </a:r>
            <a:r>
              <a:rPr sz="1200" b="1" spc="-25" dirty="0">
                <a:latin typeface="Times New Roman"/>
                <a:cs typeface="Times New Roman"/>
              </a:rPr>
              <a:t> </a:t>
            </a:r>
            <a:r>
              <a:rPr sz="1200" b="1" spc="-10" dirty="0">
                <a:latin typeface="Times New Roman"/>
                <a:cs typeface="Times New Roman"/>
              </a:rPr>
              <a:t>University,</a:t>
            </a:r>
            <a:r>
              <a:rPr sz="1200" b="1" spc="-20" dirty="0">
                <a:latin typeface="Times New Roman"/>
                <a:cs typeface="Times New Roman"/>
              </a:rPr>
              <a:t> </a:t>
            </a:r>
            <a:r>
              <a:rPr sz="1200" b="1" spc="-10" dirty="0" err="1">
                <a:latin typeface="Times New Roman"/>
                <a:cs typeface="Times New Roman"/>
              </a:rPr>
              <a:t>Bachupally</a:t>
            </a:r>
            <a:endParaRPr sz="1200" dirty="0">
              <a:latin typeface="Times New Roman"/>
              <a:cs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713916"/>
            <a:ext cx="5969000" cy="8630568"/>
          </a:xfrm>
          <a:prstGeom prst="rect">
            <a:avLst/>
          </a:prstGeom>
        </p:spPr>
        <p:txBody>
          <a:bodyPr vert="horz" wrap="square" lIns="0" tIns="12700" rIns="0" bIns="0" rtlCol="0">
            <a:spAutoFit/>
          </a:bodyPr>
          <a:lstStyle/>
          <a:p>
            <a:pPr algn="ctr" rtl="0">
              <a:spcAft>
                <a:spcPts val="1000"/>
              </a:spcAft>
            </a:pPr>
            <a:r>
              <a:rPr sz="1800" b="1">
                <a:latin typeface="Arial"/>
              </a:rPr>
              <a:t>ABSTRACT</a:t>
            </a:r>
          </a:p>
          <a:p>
            <a:pPr algn="just">
              <a:lnSpc>
                <a:spcPct val="100000"/>
              </a:lnSpc>
              <a:spcAft>
                <a:spcPts val="800"/>
              </a:spcAft>
            </a:pPr>
            <a:r>
              <a:rPr sz="1200">
                <a:latin typeface="Arial"/>
              </a:rPr>
              <a:t>The Smart Project Scheduler is a Java-based system that integrates research papers with project task scheduling. Research papers are used as inputs to identify relevant project topics, tasks, and task dependencies. The tasks are represented using a directed graph, where each task is a node and dependencies are directed edges.</a:t>
            </a:r>
          </a:p>
          <a:p>
            <a:pPr algn="just">
              <a:lnSpc>
                <a:spcPct val="100000"/>
              </a:lnSpc>
              <a:spcAft>
                <a:spcPts val="800"/>
              </a:spcAft>
            </a:pPr>
            <a:r>
              <a:rPr sz="1200">
                <a:latin typeface="Arial"/>
              </a:rPr>
              <a:t>Java data structures such as ArrayList, HashMap, HashSet, Queue, and Stack are used to store and process research and task information. Breadth-First Search (BFS) and Depth-First Search (DFS) are applied to analyze task dependencies and determine an appropriate execution order. Java File I/O and string processing techniques are used to preprocess research papers and project data.</a:t>
            </a:r>
          </a:p>
          <a:p>
            <a:pPr algn="just">
              <a:lnSpc>
                <a:spcPct val="100000"/>
              </a:lnSpc>
              <a:spcAft>
                <a:spcPts val="800"/>
              </a:spcAft>
            </a:pPr>
            <a:r>
              <a:rPr sz="1200">
                <a:latin typeface="Arial"/>
              </a:rPr>
              <a:t>The system generates an organized project execution schedule, displays task dependencies, prioritizes tasks according to their relationships, and produces schedule reports. This project demonstrates how Data Structures and Algorithms can be applied to simplify research-oriented project planning and improve task organization.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18</TotalTime>
  <Words>230</Words>
  <Application>Microsoft Office PowerPoint</Application>
  <PresentationFormat>Custom</PresentationFormat>
  <Paragraphs>14</Paragraphs>
  <Slides>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Arial</vt:lpstr>
      <vt:lpstr>Calibri</vt:lpstr>
      <vt:lpstr>Times New Roman</vt:lpstr>
      <vt:lpstr>Office Theme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Report</dc:title>
  <cp:lastModifiedBy>Administrator</cp:lastModifiedBy>
  <cp:revision>5</cp:revision>
  <dcterms:created xsi:type="dcterms:W3CDTF">2026-10-04T16:23:46Z</dcterms:created>
  <dcterms:modified xsi:type="dcterms:W3CDTF">2026-10-12T05:31:20Z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v10.0.20290.1</vt:lpwstr>
  </property>
  <property fmtid="{D5CDD505-2E9C-101B-9397-08002B2CF9AE}" pid="3" name="Created">
    <vt:filetime>2026-10-04T00:00:00Z</vt:filetime>
  </property>
  <property fmtid="{D5CDD505-2E9C-101B-9397-08002B2CF9AE}" pid="4" name="Producer">
    <vt:lpwstr>Skia/PDF m156 Google Docs Renderer</vt:lpwstr>
  </property>
  <property fmtid="{D5CDD505-2E9C-101B-9397-08002B2CF9AE}" pid="5" name="LastSaved">
    <vt:filetime>2026-10-04T00:00:00Z</vt:filetime>
  </property>
</Properties>
</file>