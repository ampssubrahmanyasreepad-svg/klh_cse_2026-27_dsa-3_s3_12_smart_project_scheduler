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G </a:t>
            </a:r>
            <a:r>
              <a:rPr lang="en-IN" dirty="0" err="1"/>
              <a:t>Tej</a:t>
            </a:r>
            <a:r>
              <a:rPr lang="en-IN" dirty="0"/>
              <a:t> Sahith-2520030606</a:t>
            </a:r>
          </a:p>
          <a:p>
            <a:pPr algn="ctr"/>
            <a:r>
              <a:rPr lang="en-IN" dirty="0"/>
              <a:t>G Venkat Sameer -2520030295</a:t>
            </a:r>
          </a:p>
          <a:p>
            <a:pPr algn="ctr"/>
            <a:r>
              <a:rPr lang="en-IN"/>
              <a:t>A Sreepad-2520030152</a:t>
            </a:r>
            <a:endParaRPr lang="en-IN" dirty="0"/>
          </a:p>
        </p:txBody>
      </p:sp>
      <p:sp>
        <p:nvSpPr>
          <p:cNvPr id="3" name="Rectangle 2"/>
          <p:cNvSpPr/>
          <p:nvPr/>
        </p:nvSpPr>
        <p:spPr>
          <a:xfrm>
            <a:off x="0" y="0"/>
            <a:ext cx="164592" cy="6858000"/>
          </a:xfrm>
          <a:prstGeom prst="rect">
            <a:avLst/>
          </a:prstGeom>
          <a:solidFill>
            <a:srgbClr val="4B9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25880"/>
            <a:ext cx="10515600" cy="1371600"/>
          </a:xfrm>
          <a:prstGeom prst="rect">
            <a:avLst/>
          </a:prstGeom>
          <a:noFill/>
        </p:spPr>
        <p:txBody>
          <a:bodyPr wrap="none">
            <a:spAutoFit/>
          </a:bodyPr>
          <a:lstStyle/>
          <a:p>
            <a:pPr>
              <a:defRPr sz="3800" b="1">
                <a:solidFill>
                  <a:srgbClr val="FFFFFF"/>
                </a:solidFill>
              </a:defRPr>
            </a:pPr>
            <a:r>
              <a:rPr sz="2000"/>
              <a:t>SMART PROJECT SCHEDULER</a:t>
            </a:r>
            <a:br/>
            <a:r>
              <a:rPr sz="2000"/>
              <a:t>Research-Integrated Project Scheduling</a:t>
            </a:r>
          </a:p>
        </p:txBody>
      </p:sp>
      <p:sp>
        <p:nvSpPr>
          <p:cNvPr id="5" name="Oval 4"/>
          <p:cNvSpPr/>
          <p:nvPr/>
        </p:nvSpPr>
        <p:spPr>
          <a:xfrm>
            <a:off x="8595360" y="2011680"/>
            <a:ext cx="594360" cy="594360"/>
          </a:xfrm>
          <a:prstGeom prst="ellipse">
            <a:avLst/>
          </a:prstGeom>
          <a:solidFill>
            <a:srgbClr val="2D69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0" y="2139696"/>
            <a:ext cx="594360" cy="274320"/>
          </a:xfrm>
          <a:prstGeom prst="rect">
            <a:avLst/>
          </a:prstGeom>
          <a:noFill/>
        </p:spPr>
        <p:txBody>
          <a:bodyPr wrap="none">
            <a:spAutoFit/>
          </a:bodyPr>
          <a:lstStyle/>
          <a:p>
            <a:pPr algn="ctr">
              <a:defRPr sz="1100" b="1">
                <a:solidFill>
                  <a:srgbClr val="FFFFFF"/>
                </a:solidFill>
              </a:defRPr>
            </a:pPr>
            <a:r>
              <a:t>P1</a:t>
            </a:r>
          </a:p>
        </p:txBody>
      </p:sp>
      <p:sp>
        <p:nvSpPr>
          <p:cNvPr id="7" name="Oval 6"/>
          <p:cNvSpPr/>
          <p:nvPr/>
        </p:nvSpPr>
        <p:spPr>
          <a:xfrm>
            <a:off x="9784080" y="2926080"/>
            <a:ext cx="594360" cy="594360"/>
          </a:xfrm>
          <a:prstGeom prst="ellipse">
            <a:avLst/>
          </a:prstGeom>
          <a:solidFill>
            <a:srgbClr val="2D69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0" y="3054096"/>
            <a:ext cx="594360" cy="274320"/>
          </a:xfrm>
          <a:prstGeom prst="rect">
            <a:avLst/>
          </a:prstGeom>
          <a:noFill/>
        </p:spPr>
        <p:txBody>
          <a:bodyPr wrap="none">
            <a:spAutoFit/>
          </a:bodyPr>
          <a:lstStyle/>
          <a:p>
            <a:pPr algn="ctr">
              <a:defRPr sz="1100" b="1">
                <a:solidFill>
                  <a:srgbClr val="FFFFFF"/>
                </a:solidFill>
              </a:defRPr>
            </a:pPr>
            <a:r>
              <a:t>P2</a:t>
            </a:r>
          </a:p>
        </p:txBody>
      </p:sp>
      <p:sp>
        <p:nvSpPr>
          <p:cNvPr id="9" name="Oval 8"/>
          <p:cNvSpPr/>
          <p:nvPr/>
        </p:nvSpPr>
        <p:spPr>
          <a:xfrm>
            <a:off x="7589520" y="3063240"/>
            <a:ext cx="594360" cy="594360"/>
          </a:xfrm>
          <a:prstGeom prst="ellipse">
            <a:avLst/>
          </a:prstGeom>
          <a:solidFill>
            <a:srgbClr val="2D69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3191256"/>
            <a:ext cx="594360" cy="274320"/>
          </a:xfrm>
          <a:prstGeom prst="rect">
            <a:avLst/>
          </a:prstGeom>
          <a:noFill/>
        </p:spPr>
        <p:txBody>
          <a:bodyPr wrap="none">
            <a:spAutoFit/>
          </a:bodyPr>
          <a:lstStyle/>
          <a:p>
            <a:pPr algn="ctr">
              <a:defRPr sz="1100" b="1">
                <a:solidFill>
                  <a:srgbClr val="FFFFFF"/>
                </a:solidFill>
              </a:defRPr>
            </a:pPr>
            <a:r>
              <a:t>P3</a:t>
            </a:r>
          </a:p>
        </p:txBody>
      </p:sp>
      <p:sp>
        <p:nvSpPr>
          <p:cNvPr id="11" name="Oval 10"/>
          <p:cNvSpPr/>
          <p:nvPr/>
        </p:nvSpPr>
        <p:spPr>
          <a:xfrm>
            <a:off x="9144000" y="4160520"/>
            <a:ext cx="594360" cy="594360"/>
          </a:xfrm>
          <a:prstGeom prst="ellipse">
            <a:avLst/>
          </a:prstGeom>
          <a:solidFill>
            <a:srgbClr val="2D69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0" y="4288536"/>
            <a:ext cx="594360" cy="274320"/>
          </a:xfrm>
          <a:prstGeom prst="rect">
            <a:avLst/>
          </a:prstGeom>
          <a:noFill/>
        </p:spPr>
        <p:txBody>
          <a:bodyPr wrap="none">
            <a:spAutoFit/>
          </a:bodyPr>
          <a:lstStyle/>
          <a:p>
            <a:pPr algn="ctr">
              <a:defRPr sz="1100" b="1">
                <a:solidFill>
                  <a:srgbClr val="FFFFFF"/>
                </a:solidFill>
              </a:defRPr>
            </a:pPr>
            <a:r>
              <a:t>P4</a:t>
            </a:r>
          </a:p>
        </p:txBody>
      </p:sp>
      <p:sp>
        <p:nvSpPr>
          <p:cNvPr id="13" name="Oval 12"/>
          <p:cNvSpPr/>
          <p:nvPr/>
        </p:nvSpPr>
        <p:spPr>
          <a:xfrm>
            <a:off x="7132320" y="4297680"/>
            <a:ext cx="594360" cy="594360"/>
          </a:xfrm>
          <a:prstGeom prst="ellipse">
            <a:avLst/>
          </a:prstGeom>
          <a:solidFill>
            <a:srgbClr val="2D69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4425696"/>
            <a:ext cx="594360" cy="274320"/>
          </a:xfrm>
          <a:prstGeom prst="rect">
            <a:avLst/>
          </a:prstGeom>
          <a:noFill/>
        </p:spPr>
        <p:txBody>
          <a:bodyPr wrap="none">
            <a:spAutoFit/>
          </a:bodyPr>
          <a:lstStyle/>
          <a:p>
            <a:pPr algn="ctr">
              <a:defRPr sz="1100" b="1">
                <a:solidFill>
                  <a:srgbClr val="FFFFFF"/>
                </a:solidFill>
              </a:defRPr>
            </a:pPr>
            <a:r>
              <a:t>P5</a:t>
            </a:r>
          </a:p>
        </p:txBody>
      </p:sp>
      <p:sp>
        <p:nvSpPr>
          <p:cNvPr id="15" name="TextBox 14"/>
          <p:cNvSpPr txBox="1"/>
          <p:nvPr/>
        </p:nvSpPr>
        <p:spPr>
          <a:xfrm>
            <a:off x="868680" y="5166360"/>
            <a:ext cx="7772400" cy="731520"/>
          </a:xfrm>
          <a:prstGeom prst="rect">
            <a:avLst/>
          </a:prstGeom>
          <a:noFill/>
        </p:spPr>
        <p:txBody>
          <a:bodyPr wrap="none">
            <a:spAutoFit/>
          </a:bodyPr>
          <a:lstStyle/>
          <a:p>
            <a:pPr>
              <a:defRPr sz="1700">
                <a:solidFill>
                  <a:srgbClr val="BECDE1"/>
                </a:solidFill>
              </a:defRPr>
            </a:pPr>
            <a:r>
              <a:t>Problem Statement Review • 20 August</a:t>
            </a:r>
          </a:p>
        </p:txBody>
      </p:sp>
      <p:sp>
        <p:nvSpPr>
          <p:cNvPr id="16" name="TextBox 15"/>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pPr>
              <a:defRPr sz="2700" b="1">
                <a:solidFill>
                  <a:srgbClr val="14233C"/>
                </a:solidFill>
              </a:defRPr>
            </a:pPr>
            <a:r>
              <a:t>Abstract</a:t>
            </a:r>
          </a:p>
        </p:txBody>
      </p:sp>
      <p:sp>
        <p:nvSpPr>
          <p:cNvPr id="5" name="TextBox 4"/>
          <p:cNvSpPr txBox="1"/>
          <p:nvPr/>
        </p:nvSpPr>
        <p:spPr>
          <a:xfrm>
            <a:off x="777240" y="1325880"/>
            <a:ext cx="10789920" cy="4832092"/>
          </a:xfrm>
          <a:prstGeom prst="rect">
            <a:avLst/>
          </a:prstGeom>
          <a:noFill/>
        </p:spPr>
        <p:txBody>
          <a:bodyPr wrap="square">
            <a:spAutoFit/>
          </a:bodyPr>
          <a:lstStyle/>
          <a:p>
            <a:r>
              <a:rPr sz="2800" dirty="0"/>
              <a:t>The Smart Project Scheduler is a Java-based system that integrates research papers with project task scheduling. Research papers are used as inputs to identify relevant project tasks, topics, and task dependencies. The tasks are represented using a directed graph, where each task is a node and dependencies are directed edges. Java data structures such as </a:t>
            </a:r>
            <a:r>
              <a:rPr sz="2800" dirty="0" err="1"/>
              <a:t>ArrayList</a:t>
            </a:r>
            <a:r>
              <a:rPr sz="2800" dirty="0"/>
              <a:t>, HashMap, HashSet, Queue, and Stack are used to store and process research and task information. BFS and DFS are used to analyze task dependencies and determine an appropriate execution order. Java File I/O and string processing are used for preprocessing research-paper and project data. The system generates an organized schedule for research-oriented </a:t>
            </a:r>
            <a:r>
              <a:rPr lang="en-IN" sz="2800" dirty="0"/>
              <a:t>PROJECT</a:t>
            </a:r>
            <a:endParaRPr sz="1400" dirty="0"/>
          </a:p>
        </p:txBody>
      </p:sp>
      <p:sp>
        <p:nvSpPr>
          <p:cNvPr id="6" name="TextBox 5"/>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41" y="5486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pPr>
              <a:defRPr sz="2700" b="1">
                <a:solidFill>
                  <a:srgbClr val="14233C"/>
                </a:solidFill>
              </a:defRPr>
            </a:pPr>
            <a:r>
              <a:t>Problem Statement</a:t>
            </a:r>
          </a:p>
        </p:txBody>
      </p:sp>
      <p:sp>
        <p:nvSpPr>
          <p:cNvPr id="5" name="TextBox 4"/>
          <p:cNvSpPr txBox="1"/>
          <p:nvPr/>
        </p:nvSpPr>
        <p:spPr>
          <a:xfrm>
            <a:off x="548640" y="978408"/>
            <a:ext cx="10607040" cy="3416320"/>
          </a:xfrm>
          <a:prstGeom prst="rect">
            <a:avLst/>
          </a:prstGeom>
          <a:noFill/>
        </p:spPr>
        <p:txBody>
          <a:bodyPr wrap="square">
            <a:spAutoFit/>
          </a:bodyPr>
          <a:lstStyle/>
          <a:p>
            <a:r>
              <a:rPr dirty="0"/>
              <a:t>Planning a research-oriented project can be difficult when papers, topics, tasks, and dependencies are handled separately. Users may not know which tasks should be completed first or how research information relates to the project workflow.</a:t>
            </a:r>
            <a:br>
              <a:rPr dirty="0"/>
            </a:br>
            <a:br>
              <a:rPr dirty="0"/>
            </a:br>
            <a:r>
              <a:rPr dirty="0"/>
              <a:t>Problem:</a:t>
            </a:r>
            <a:br>
              <a:rPr dirty="0"/>
            </a:br>
            <a:r>
              <a:rPr dirty="0"/>
              <a:t>Develop a Java-based system that:</a:t>
            </a:r>
            <a:br>
              <a:rPr dirty="0"/>
            </a:br>
            <a:r>
              <a:rPr dirty="0"/>
              <a:t>• Uses research papers as inputs for project planning.</a:t>
            </a:r>
            <a:br>
              <a:rPr dirty="0"/>
            </a:br>
            <a:r>
              <a:rPr dirty="0"/>
              <a:t>• Extracts and organizes relevant topics and project tasks.</a:t>
            </a:r>
            <a:br>
              <a:rPr dirty="0"/>
            </a:br>
            <a:r>
              <a:rPr dirty="0"/>
              <a:t>• Represents task dependencies using a directed graph.</a:t>
            </a:r>
            <a:br>
              <a:rPr dirty="0"/>
            </a:br>
            <a:r>
              <a:rPr dirty="0"/>
              <a:t>• Uses BFS and DFS to analyze task relationships.</a:t>
            </a:r>
            <a:br>
              <a:rPr dirty="0"/>
            </a:br>
            <a:r>
              <a:rPr dirty="0"/>
              <a:t>• Uses Java Collections for task and research-data management.</a:t>
            </a:r>
            <a:br>
              <a:rPr dirty="0"/>
            </a:br>
            <a:r>
              <a:rPr dirty="0"/>
              <a:t>• Generates an organized project execution schedule.</a:t>
            </a:r>
          </a:p>
        </p:txBody>
      </p:sp>
      <p:sp>
        <p:nvSpPr>
          <p:cNvPr id="6" name="TextBox 5"/>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pPr>
              <a:defRPr sz="2700" b="1">
                <a:solidFill>
                  <a:srgbClr val="14233C"/>
                </a:solidFill>
              </a:defRPr>
            </a:pPr>
            <a:r>
              <a:t>Proposed Functionalities</a:t>
            </a:r>
          </a:p>
        </p:txBody>
      </p:sp>
      <p:sp>
        <p:nvSpPr>
          <p:cNvPr id="5" name="Rounded Rectangle 4"/>
          <p:cNvSpPr/>
          <p:nvPr/>
        </p:nvSpPr>
        <p:spPr>
          <a:xfrm>
            <a:off x="868680" y="1485233"/>
            <a:ext cx="27432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1247"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3" y="1700784"/>
            <a:ext cx="502920" cy="32004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1463040" y="1600200"/>
            <a:ext cx="2194559" cy="411480"/>
          </a:xfrm>
          <a:prstGeom prst="rect">
            <a:avLst/>
          </a:prstGeom>
          <a:noFill/>
        </p:spPr>
        <p:txBody>
          <a:bodyPr wrap="none">
            <a:spAutoFit/>
          </a:bodyPr>
          <a:lstStyle/>
          <a:p>
            <a:r>
              <a:t>Research Paper Management</a:t>
            </a:r>
          </a:p>
        </p:txBody>
      </p:sp>
      <p:sp>
        <p:nvSpPr>
          <p:cNvPr id="9" name="TextBox 8"/>
          <p:cNvSpPr txBox="1"/>
          <p:nvPr/>
        </p:nvSpPr>
        <p:spPr>
          <a:xfrm>
            <a:off x="1417320" y="2130552"/>
            <a:ext cx="2194560" cy="492443"/>
          </a:xfrm>
          <a:prstGeom prst="rect">
            <a:avLst/>
          </a:prstGeom>
          <a:noFill/>
        </p:spPr>
        <p:txBody>
          <a:bodyPr wrap="square">
            <a:spAutoFit/>
          </a:bodyPr>
          <a:lstStyle/>
          <a:p>
            <a:r>
              <a:t>Store, search and organize research papers used for project planning.</a:t>
            </a:r>
          </a:p>
        </p:txBody>
      </p:sp>
      <p:sp>
        <p:nvSpPr>
          <p:cNvPr id="10" name="Rounded Rectangle 9"/>
          <p:cNvSpPr/>
          <p:nvPr/>
        </p:nvSpPr>
        <p:spPr>
          <a:xfrm>
            <a:off x="4160520" y="1417320"/>
            <a:ext cx="32004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361688"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61688" y="1682496"/>
            <a:ext cx="502920" cy="320040"/>
          </a:xfrm>
          <a:prstGeom prst="rect">
            <a:avLst/>
          </a:prstGeom>
          <a:noFill/>
        </p:spPr>
        <p:txBody>
          <a:bodyPr wrap="none">
            <a:spAutoFit/>
          </a:bodyPr>
          <a:lstStyle/>
          <a:p>
            <a:pPr algn="ctr">
              <a:defRPr sz="1400" b="1">
                <a:solidFill>
                  <a:srgbClr val="FFFFFF"/>
                </a:solidFill>
              </a:defRPr>
            </a:pPr>
            <a:r>
              <a:t>2</a:t>
            </a:r>
          </a:p>
        </p:txBody>
      </p:sp>
      <p:sp>
        <p:nvSpPr>
          <p:cNvPr id="13" name="TextBox 12"/>
          <p:cNvSpPr txBox="1"/>
          <p:nvPr/>
        </p:nvSpPr>
        <p:spPr>
          <a:xfrm>
            <a:off x="4983480" y="1600200"/>
            <a:ext cx="2194559" cy="411480"/>
          </a:xfrm>
          <a:prstGeom prst="rect">
            <a:avLst/>
          </a:prstGeom>
          <a:noFill/>
        </p:spPr>
        <p:txBody>
          <a:bodyPr wrap="none">
            <a:spAutoFit/>
          </a:bodyPr>
          <a:lstStyle/>
          <a:p>
            <a:r>
              <a:t>Task Dependency Graph</a:t>
            </a:r>
          </a:p>
        </p:txBody>
      </p:sp>
      <p:sp>
        <p:nvSpPr>
          <p:cNvPr id="14" name="TextBox 13"/>
          <p:cNvSpPr txBox="1"/>
          <p:nvPr/>
        </p:nvSpPr>
        <p:spPr>
          <a:xfrm>
            <a:off x="4160519" y="2203704"/>
            <a:ext cx="2862449" cy="492443"/>
          </a:xfrm>
          <a:prstGeom prst="rect">
            <a:avLst/>
          </a:prstGeom>
          <a:noFill/>
        </p:spPr>
        <p:txBody>
          <a:bodyPr wrap="square">
            <a:spAutoFit/>
          </a:bodyPr>
          <a:lstStyle/>
          <a:p>
            <a:r>
              <a:t>Build a directed graph connecting tasks according to their dependencies.</a:t>
            </a:r>
          </a:p>
        </p:txBody>
      </p:sp>
      <p:sp>
        <p:nvSpPr>
          <p:cNvPr id="15" name="Rounded Rectangle 14"/>
          <p:cNvSpPr/>
          <p:nvPr/>
        </p:nvSpPr>
        <p:spPr>
          <a:xfrm>
            <a:off x="7680960" y="1417320"/>
            <a:ext cx="32004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82128"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82128" y="1682496"/>
            <a:ext cx="502920" cy="320040"/>
          </a:xfrm>
          <a:prstGeom prst="rect">
            <a:avLst/>
          </a:prstGeom>
          <a:noFill/>
        </p:spPr>
        <p:txBody>
          <a:bodyPr wrap="none">
            <a:spAutoFit/>
          </a:bodyPr>
          <a:lstStyle/>
          <a:p>
            <a:pPr algn="ctr">
              <a:defRPr sz="1400" b="1">
                <a:solidFill>
                  <a:srgbClr val="FFFFFF"/>
                </a:solidFill>
              </a:defRPr>
            </a:pPr>
            <a:r>
              <a:t>3</a:t>
            </a:r>
          </a:p>
        </p:txBody>
      </p:sp>
      <p:sp>
        <p:nvSpPr>
          <p:cNvPr id="18" name="TextBox 17"/>
          <p:cNvSpPr txBox="1"/>
          <p:nvPr/>
        </p:nvSpPr>
        <p:spPr>
          <a:xfrm>
            <a:off x="8503920" y="1600200"/>
            <a:ext cx="2194559" cy="411480"/>
          </a:xfrm>
          <a:prstGeom prst="rect">
            <a:avLst/>
          </a:prstGeom>
          <a:noFill/>
        </p:spPr>
        <p:txBody>
          <a:bodyPr wrap="none">
            <a:spAutoFit/>
          </a:bodyPr>
          <a:lstStyle/>
          <a:p>
            <a:r>
              <a:t>Task Dependency Analysis</a:t>
            </a:r>
          </a:p>
        </p:txBody>
      </p:sp>
      <p:sp>
        <p:nvSpPr>
          <p:cNvPr id="19" name="TextBox 18"/>
          <p:cNvSpPr txBox="1"/>
          <p:nvPr/>
        </p:nvSpPr>
        <p:spPr>
          <a:xfrm>
            <a:off x="8385048" y="2130552"/>
            <a:ext cx="1385269" cy="914400"/>
          </a:xfrm>
          <a:prstGeom prst="rect">
            <a:avLst/>
          </a:prstGeom>
          <a:noFill/>
        </p:spPr>
        <p:txBody>
          <a:bodyPr wrap="square">
            <a:spAutoFit/>
          </a:bodyPr>
          <a:lstStyle/>
          <a:p>
            <a:r>
              <a:t>Analyze task relationships and execution paths using BFS and DFS.</a:t>
            </a:r>
          </a:p>
        </p:txBody>
      </p:sp>
      <p:sp>
        <p:nvSpPr>
          <p:cNvPr id="20" name="Rounded Rectangle 19"/>
          <p:cNvSpPr/>
          <p:nvPr/>
        </p:nvSpPr>
        <p:spPr>
          <a:xfrm>
            <a:off x="640080" y="3657600"/>
            <a:ext cx="32004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1247" y="38587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3922776"/>
            <a:ext cx="502920" cy="320040"/>
          </a:xfrm>
          <a:prstGeom prst="rect">
            <a:avLst/>
          </a:prstGeom>
          <a:noFill/>
        </p:spPr>
        <p:txBody>
          <a:bodyPr wrap="none">
            <a:spAutoFit/>
          </a:bodyPr>
          <a:lstStyle/>
          <a:p>
            <a:pPr algn="ctr">
              <a:defRPr sz="1400" b="1">
                <a:solidFill>
                  <a:srgbClr val="FFFFFF"/>
                </a:solidFill>
              </a:defRPr>
            </a:pPr>
            <a:r>
              <a:t>4</a:t>
            </a:r>
          </a:p>
        </p:txBody>
      </p:sp>
      <p:sp>
        <p:nvSpPr>
          <p:cNvPr id="23" name="TextBox 22"/>
          <p:cNvSpPr txBox="1"/>
          <p:nvPr/>
        </p:nvSpPr>
        <p:spPr>
          <a:xfrm>
            <a:off x="1463040" y="3840480"/>
            <a:ext cx="2194559" cy="411480"/>
          </a:xfrm>
          <a:prstGeom prst="rect">
            <a:avLst/>
          </a:prstGeom>
          <a:noFill/>
        </p:spPr>
        <p:txBody>
          <a:bodyPr wrap="none">
            <a:spAutoFit/>
          </a:bodyPr>
          <a:lstStyle/>
          <a:p>
            <a:r>
              <a:t>Task Prioritization</a:t>
            </a:r>
          </a:p>
        </p:txBody>
      </p:sp>
      <p:sp>
        <p:nvSpPr>
          <p:cNvPr id="24" name="TextBox 23"/>
          <p:cNvSpPr txBox="1"/>
          <p:nvPr/>
        </p:nvSpPr>
        <p:spPr>
          <a:xfrm>
            <a:off x="868680" y="4370832"/>
            <a:ext cx="2743200" cy="914400"/>
          </a:xfrm>
          <a:prstGeom prst="rect">
            <a:avLst/>
          </a:prstGeom>
          <a:noFill/>
        </p:spPr>
        <p:txBody>
          <a:bodyPr wrap="none">
            <a:spAutoFit/>
          </a:bodyPr>
          <a:lstStyle/>
          <a:p>
            <a:r>
              <a:t>Prioritize tasks based on dependencies and project requirements.</a:t>
            </a:r>
          </a:p>
        </p:txBody>
      </p:sp>
      <p:sp>
        <p:nvSpPr>
          <p:cNvPr id="25" name="Rounded Rectangle 24"/>
          <p:cNvSpPr/>
          <p:nvPr/>
        </p:nvSpPr>
        <p:spPr>
          <a:xfrm>
            <a:off x="4160520" y="3657600"/>
            <a:ext cx="32004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361688" y="38587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61688" y="3922776"/>
            <a:ext cx="502920" cy="320040"/>
          </a:xfrm>
          <a:prstGeom prst="rect">
            <a:avLst/>
          </a:prstGeom>
          <a:noFill/>
        </p:spPr>
        <p:txBody>
          <a:bodyPr wrap="none">
            <a:spAutoFit/>
          </a:bodyPr>
          <a:lstStyle/>
          <a:p>
            <a:pPr algn="ctr">
              <a:defRPr sz="1400" b="1">
                <a:solidFill>
                  <a:srgbClr val="FFFFFF"/>
                </a:solidFill>
              </a:defRPr>
            </a:pPr>
            <a:r>
              <a:t>5</a:t>
            </a:r>
          </a:p>
        </p:txBody>
      </p:sp>
      <p:sp>
        <p:nvSpPr>
          <p:cNvPr id="28" name="TextBox 27"/>
          <p:cNvSpPr txBox="1"/>
          <p:nvPr/>
        </p:nvSpPr>
        <p:spPr>
          <a:xfrm>
            <a:off x="4983480" y="3840480"/>
            <a:ext cx="2194559" cy="411480"/>
          </a:xfrm>
          <a:prstGeom prst="rect">
            <a:avLst/>
          </a:prstGeom>
          <a:noFill/>
        </p:spPr>
        <p:txBody>
          <a:bodyPr wrap="none">
            <a:spAutoFit/>
          </a:bodyPr>
          <a:lstStyle/>
          <a:p>
            <a:r>
              <a:t>Schedule Visualization</a:t>
            </a:r>
          </a:p>
        </p:txBody>
      </p:sp>
      <p:sp>
        <p:nvSpPr>
          <p:cNvPr id="29" name="TextBox 28"/>
          <p:cNvSpPr txBox="1"/>
          <p:nvPr/>
        </p:nvSpPr>
        <p:spPr>
          <a:xfrm>
            <a:off x="4069080" y="4370832"/>
            <a:ext cx="3063240" cy="492443"/>
          </a:xfrm>
          <a:prstGeom prst="rect">
            <a:avLst/>
          </a:prstGeom>
          <a:noFill/>
        </p:spPr>
        <p:txBody>
          <a:bodyPr wrap="square">
            <a:spAutoFit/>
          </a:bodyPr>
          <a:lstStyle/>
          <a:p>
            <a:r>
              <a:t>Display task dependencies and the generated project schedule.</a:t>
            </a:r>
          </a:p>
        </p:txBody>
      </p:sp>
      <p:sp>
        <p:nvSpPr>
          <p:cNvPr id="30" name="Rounded Rectangle 29"/>
          <p:cNvSpPr/>
          <p:nvPr/>
        </p:nvSpPr>
        <p:spPr>
          <a:xfrm>
            <a:off x="7680960" y="3657600"/>
            <a:ext cx="3200400" cy="17830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882128" y="38587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82128" y="3922776"/>
            <a:ext cx="502920" cy="320040"/>
          </a:xfrm>
          <a:prstGeom prst="rect">
            <a:avLst/>
          </a:prstGeom>
          <a:noFill/>
        </p:spPr>
        <p:txBody>
          <a:bodyPr wrap="none">
            <a:spAutoFit/>
          </a:bodyPr>
          <a:lstStyle/>
          <a:p>
            <a:pPr algn="ctr">
              <a:defRPr sz="1400" b="1">
                <a:solidFill>
                  <a:srgbClr val="FFFFFF"/>
                </a:solidFill>
              </a:defRPr>
            </a:pPr>
            <a:r>
              <a:t>6</a:t>
            </a:r>
          </a:p>
        </p:txBody>
      </p:sp>
      <p:sp>
        <p:nvSpPr>
          <p:cNvPr id="33" name="TextBox 32"/>
          <p:cNvSpPr txBox="1"/>
          <p:nvPr/>
        </p:nvSpPr>
        <p:spPr>
          <a:xfrm>
            <a:off x="8503920" y="3840480"/>
            <a:ext cx="2194559" cy="411480"/>
          </a:xfrm>
          <a:prstGeom prst="rect">
            <a:avLst/>
          </a:prstGeom>
          <a:noFill/>
        </p:spPr>
        <p:txBody>
          <a:bodyPr wrap="none">
            <a:spAutoFit/>
          </a:bodyPr>
          <a:lstStyle/>
          <a:p>
            <a:r>
              <a:t>Schedule Reports</a:t>
            </a:r>
          </a:p>
        </p:txBody>
      </p:sp>
      <p:sp>
        <p:nvSpPr>
          <p:cNvPr id="34" name="TextBox 33"/>
          <p:cNvSpPr txBox="1"/>
          <p:nvPr/>
        </p:nvSpPr>
        <p:spPr>
          <a:xfrm>
            <a:off x="7777113" y="4370832"/>
            <a:ext cx="2875647" cy="492443"/>
          </a:xfrm>
          <a:prstGeom prst="rect">
            <a:avLst/>
          </a:prstGeom>
          <a:noFill/>
        </p:spPr>
        <p:txBody>
          <a:bodyPr wrap="square">
            <a:spAutoFit/>
          </a:bodyPr>
          <a:lstStyle/>
          <a:p>
            <a:r>
              <a:t>Generate task lists, dependency summaries and schedule reports.</a:t>
            </a:r>
          </a:p>
        </p:txBody>
      </p:sp>
      <p:sp>
        <p:nvSpPr>
          <p:cNvPr id="35" name="TextBox 34"/>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pPr>
              <a:defRPr sz="2700" b="1">
                <a:solidFill>
                  <a:srgbClr val="14233C"/>
                </a:solidFill>
              </a:defRPr>
            </a:pPr>
            <a:r>
              <a:t>Tools &amp; Technologies</a:t>
            </a:r>
          </a:p>
        </p:txBody>
      </p:sp>
      <p:sp>
        <p:nvSpPr>
          <p:cNvPr id="5" name="Rounded Rectangle 4"/>
          <p:cNvSpPr/>
          <p:nvPr/>
        </p:nvSpPr>
        <p:spPr>
          <a:xfrm>
            <a:off x="685800" y="141732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6"/>
            <a:ext cx="502920" cy="320040"/>
          </a:xfrm>
          <a:prstGeom prst="rect">
            <a:avLst/>
          </a:prstGeom>
          <a:noFill/>
        </p:spPr>
        <p:txBody>
          <a:bodyPr wrap="none">
            <a:spAutoFit/>
          </a:bodyPr>
          <a:lstStyle/>
          <a:p>
            <a:pPr algn="ctr">
              <a:defRPr sz="1400" b="1">
                <a:solidFill>
                  <a:srgbClr val="FFFFFF"/>
                </a:solidFill>
              </a:defRPr>
            </a:pPr>
            <a:r>
              <a:t>P</a:t>
            </a:r>
          </a:p>
        </p:txBody>
      </p:sp>
      <p:sp>
        <p:nvSpPr>
          <p:cNvPr id="8" name="TextBox 7"/>
          <p:cNvSpPr txBox="1"/>
          <p:nvPr/>
        </p:nvSpPr>
        <p:spPr>
          <a:xfrm>
            <a:off x="1508760" y="1600200"/>
            <a:ext cx="2423160" cy="411480"/>
          </a:xfrm>
          <a:prstGeom prst="rect">
            <a:avLst/>
          </a:prstGeom>
          <a:noFill/>
        </p:spPr>
        <p:txBody>
          <a:bodyPr wrap="none">
            <a:spAutoFit/>
          </a:bodyPr>
          <a:lstStyle/>
          <a:p>
            <a:pPr>
              <a:defRPr sz="1700" b="1">
                <a:solidFill>
                  <a:srgbClr val="14233C"/>
                </a:solidFill>
              </a:defRPr>
            </a:pPr>
            <a:r>
              <a:t>Programming</a:t>
            </a:r>
          </a:p>
        </p:txBody>
      </p:sp>
      <p:sp>
        <p:nvSpPr>
          <p:cNvPr id="9" name="TextBox 8"/>
          <p:cNvSpPr txBox="1"/>
          <p:nvPr/>
        </p:nvSpPr>
        <p:spPr>
          <a:xfrm>
            <a:off x="914400" y="2130552"/>
            <a:ext cx="2804465" cy="492443"/>
          </a:xfrm>
          <a:prstGeom prst="rect">
            <a:avLst/>
          </a:prstGeom>
          <a:noFill/>
        </p:spPr>
        <p:txBody>
          <a:bodyPr wrap="square">
            <a:spAutoFit/>
          </a:bodyPr>
          <a:lstStyle/>
          <a:p>
            <a:r>
              <a:t>Java for implementation and DSA-based project scheduling.</a:t>
            </a:r>
          </a:p>
        </p:txBody>
      </p:sp>
      <p:sp>
        <p:nvSpPr>
          <p:cNvPr id="10" name="Rounded Rectangle 9"/>
          <p:cNvSpPr/>
          <p:nvPr/>
        </p:nvSpPr>
        <p:spPr>
          <a:xfrm>
            <a:off x="4389120" y="141732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90288"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682496"/>
            <a:ext cx="502920" cy="320040"/>
          </a:xfrm>
          <a:prstGeom prst="rect">
            <a:avLst/>
          </a:prstGeom>
          <a:noFill/>
        </p:spPr>
        <p:txBody>
          <a:bodyPr wrap="none">
            <a:spAutoFit/>
          </a:bodyPr>
          <a:lstStyle/>
          <a:p>
            <a:pPr algn="ctr">
              <a:defRPr sz="1400" b="1">
                <a:solidFill>
                  <a:srgbClr val="FFFFFF"/>
                </a:solidFill>
              </a:defRPr>
            </a:pPr>
            <a:r>
              <a:t>G</a:t>
            </a:r>
          </a:p>
        </p:txBody>
      </p:sp>
      <p:sp>
        <p:nvSpPr>
          <p:cNvPr id="13" name="TextBox 12"/>
          <p:cNvSpPr txBox="1"/>
          <p:nvPr/>
        </p:nvSpPr>
        <p:spPr>
          <a:xfrm>
            <a:off x="5212080" y="1600200"/>
            <a:ext cx="2423159" cy="411480"/>
          </a:xfrm>
          <a:prstGeom prst="rect">
            <a:avLst/>
          </a:prstGeom>
          <a:noFill/>
        </p:spPr>
        <p:txBody>
          <a:bodyPr wrap="none">
            <a:spAutoFit/>
          </a:bodyPr>
          <a:lstStyle/>
          <a:p>
            <a:pPr>
              <a:defRPr sz="1700" b="1">
                <a:solidFill>
                  <a:srgbClr val="14233C"/>
                </a:solidFill>
              </a:defRPr>
            </a:pPr>
            <a:r>
              <a:t>Graph Analysis</a:t>
            </a:r>
          </a:p>
        </p:txBody>
      </p:sp>
      <p:sp>
        <p:nvSpPr>
          <p:cNvPr id="14" name="TextBox 13"/>
          <p:cNvSpPr txBox="1"/>
          <p:nvPr/>
        </p:nvSpPr>
        <p:spPr>
          <a:xfrm>
            <a:off x="4617720" y="2130552"/>
            <a:ext cx="2804465" cy="492443"/>
          </a:xfrm>
          <a:prstGeom prst="rect">
            <a:avLst/>
          </a:prstGeom>
          <a:noFill/>
        </p:spPr>
        <p:txBody>
          <a:bodyPr wrap="square">
            <a:spAutoFit/>
          </a:bodyPr>
          <a:lstStyle/>
          <a:p>
            <a:r>
              <a:t>Directed Graph using adjacency lists and Java Collections.</a:t>
            </a:r>
          </a:p>
        </p:txBody>
      </p:sp>
      <p:sp>
        <p:nvSpPr>
          <p:cNvPr id="15" name="Rounded Rectangle 14"/>
          <p:cNvSpPr/>
          <p:nvPr/>
        </p:nvSpPr>
        <p:spPr>
          <a:xfrm>
            <a:off x="8092440" y="141732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93608" y="161848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82496"/>
            <a:ext cx="502920" cy="320040"/>
          </a:xfrm>
          <a:prstGeom prst="rect">
            <a:avLst/>
          </a:prstGeom>
          <a:noFill/>
        </p:spPr>
        <p:txBody>
          <a:bodyPr wrap="none">
            <a:spAutoFit/>
          </a:bodyPr>
          <a:lstStyle/>
          <a:p>
            <a:pPr algn="ctr">
              <a:defRPr sz="1400" b="1">
                <a:solidFill>
                  <a:srgbClr val="FFFFFF"/>
                </a:solidFill>
              </a:defRPr>
            </a:pPr>
            <a:r>
              <a:t>V</a:t>
            </a:r>
          </a:p>
        </p:txBody>
      </p:sp>
      <p:sp>
        <p:nvSpPr>
          <p:cNvPr id="18" name="TextBox 17"/>
          <p:cNvSpPr txBox="1"/>
          <p:nvPr/>
        </p:nvSpPr>
        <p:spPr>
          <a:xfrm>
            <a:off x="8915400" y="1600200"/>
            <a:ext cx="2423159" cy="411480"/>
          </a:xfrm>
          <a:prstGeom prst="rect">
            <a:avLst/>
          </a:prstGeom>
          <a:noFill/>
        </p:spPr>
        <p:txBody>
          <a:bodyPr wrap="none">
            <a:spAutoFit/>
          </a:bodyPr>
          <a:lstStyle/>
          <a:p>
            <a:pPr>
              <a:defRPr sz="1700" b="1">
                <a:solidFill>
                  <a:srgbClr val="14233C"/>
                </a:solidFill>
              </a:defRPr>
            </a:pPr>
            <a:r>
              <a:t>Visualization</a:t>
            </a:r>
          </a:p>
        </p:txBody>
      </p:sp>
      <p:sp>
        <p:nvSpPr>
          <p:cNvPr id="19" name="TextBox 18"/>
          <p:cNvSpPr txBox="1"/>
          <p:nvPr/>
        </p:nvSpPr>
        <p:spPr>
          <a:xfrm>
            <a:off x="8321040" y="2130552"/>
            <a:ext cx="2623480" cy="492443"/>
          </a:xfrm>
          <a:prstGeom prst="rect">
            <a:avLst/>
          </a:prstGeom>
          <a:noFill/>
        </p:spPr>
        <p:txBody>
          <a:bodyPr wrap="square">
            <a:spAutoFit/>
          </a:bodyPr>
          <a:lstStyle/>
          <a:p>
            <a:r>
              <a:t>Java-based representation of task dependencies and schedules.</a:t>
            </a:r>
          </a:p>
        </p:txBody>
      </p:sp>
      <p:sp>
        <p:nvSpPr>
          <p:cNvPr id="20" name="Rounded Rectangle 19"/>
          <p:cNvSpPr/>
          <p:nvPr/>
        </p:nvSpPr>
        <p:spPr>
          <a:xfrm>
            <a:off x="685800" y="342900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86968" y="36301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3694176"/>
            <a:ext cx="502920" cy="320040"/>
          </a:xfrm>
          <a:prstGeom prst="rect">
            <a:avLst/>
          </a:prstGeom>
          <a:noFill/>
        </p:spPr>
        <p:txBody>
          <a:bodyPr wrap="none">
            <a:spAutoFit/>
          </a:bodyPr>
          <a:lstStyle/>
          <a:p>
            <a:pPr algn="ctr">
              <a:defRPr sz="1400" b="1">
                <a:solidFill>
                  <a:srgbClr val="FFFFFF"/>
                </a:solidFill>
              </a:defRPr>
            </a:pPr>
            <a:r>
              <a:t>D</a:t>
            </a:r>
          </a:p>
        </p:txBody>
      </p:sp>
      <p:sp>
        <p:nvSpPr>
          <p:cNvPr id="23" name="TextBox 22"/>
          <p:cNvSpPr txBox="1"/>
          <p:nvPr/>
        </p:nvSpPr>
        <p:spPr>
          <a:xfrm>
            <a:off x="1508760" y="3611880"/>
            <a:ext cx="2423160" cy="411480"/>
          </a:xfrm>
          <a:prstGeom prst="rect">
            <a:avLst/>
          </a:prstGeom>
          <a:noFill/>
        </p:spPr>
        <p:txBody>
          <a:bodyPr wrap="none">
            <a:spAutoFit/>
          </a:bodyPr>
          <a:lstStyle/>
          <a:p>
            <a:pPr>
              <a:defRPr sz="1700" b="1">
                <a:solidFill>
                  <a:srgbClr val="14233C"/>
                </a:solidFill>
              </a:defRPr>
            </a:pPr>
            <a:r>
              <a:t>Data Processing</a:t>
            </a:r>
          </a:p>
        </p:txBody>
      </p:sp>
      <p:sp>
        <p:nvSpPr>
          <p:cNvPr id="24" name="TextBox 23"/>
          <p:cNvSpPr txBox="1"/>
          <p:nvPr/>
        </p:nvSpPr>
        <p:spPr>
          <a:xfrm>
            <a:off x="914400" y="4142232"/>
            <a:ext cx="2611225" cy="502920"/>
          </a:xfrm>
          <a:prstGeom prst="rect">
            <a:avLst/>
          </a:prstGeom>
          <a:noFill/>
        </p:spPr>
        <p:txBody>
          <a:bodyPr wrap="square">
            <a:spAutoFit/>
          </a:bodyPr>
          <a:lstStyle/>
          <a:p>
            <a:r>
              <a:rPr dirty="0"/>
              <a:t>Java File I/O, String processing, </a:t>
            </a:r>
            <a:r>
              <a:rPr dirty="0" err="1"/>
              <a:t>ArrayList</a:t>
            </a:r>
            <a:r>
              <a:rPr dirty="0"/>
              <a:t>, HashMap and HashSet for preprocessing.</a:t>
            </a:r>
          </a:p>
        </p:txBody>
      </p:sp>
      <p:sp>
        <p:nvSpPr>
          <p:cNvPr id="25" name="Rounded Rectangle 24"/>
          <p:cNvSpPr/>
          <p:nvPr/>
        </p:nvSpPr>
        <p:spPr>
          <a:xfrm>
            <a:off x="4389120" y="342900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590288" y="36301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90288" y="3694176"/>
            <a:ext cx="502920" cy="320040"/>
          </a:xfrm>
          <a:prstGeom prst="rect">
            <a:avLst/>
          </a:prstGeom>
          <a:noFill/>
        </p:spPr>
        <p:txBody>
          <a:bodyPr wrap="none">
            <a:spAutoFit/>
          </a:bodyPr>
          <a:lstStyle/>
          <a:p>
            <a:pPr algn="ctr">
              <a:defRPr sz="1400" b="1">
                <a:solidFill>
                  <a:srgbClr val="FFFFFF"/>
                </a:solidFill>
              </a:defRPr>
            </a:pPr>
            <a:r>
              <a:t>DB</a:t>
            </a:r>
          </a:p>
        </p:txBody>
      </p:sp>
      <p:sp>
        <p:nvSpPr>
          <p:cNvPr id="28" name="TextBox 27"/>
          <p:cNvSpPr txBox="1"/>
          <p:nvPr/>
        </p:nvSpPr>
        <p:spPr>
          <a:xfrm>
            <a:off x="5212080" y="3611880"/>
            <a:ext cx="2423159" cy="411480"/>
          </a:xfrm>
          <a:prstGeom prst="rect">
            <a:avLst/>
          </a:prstGeom>
          <a:noFill/>
        </p:spPr>
        <p:txBody>
          <a:bodyPr wrap="none">
            <a:spAutoFit/>
          </a:bodyPr>
          <a:lstStyle/>
          <a:p>
            <a:pPr>
              <a:defRPr sz="1700" b="1">
                <a:solidFill>
                  <a:srgbClr val="14233C"/>
                </a:solidFill>
              </a:defRPr>
            </a:pPr>
            <a:r>
              <a:t>Database</a:t>
            </a:r>
          </a:p>
        </p:txBody>
      </p:sp>
      <p:sp>
        <p:nvSpPr>
          <p:cNvPr id="29" name="TextBox 28"/>
          <p:cNvSpPr txBox="1"/>
          <p:nvPr/>
        </p:nvSpPr>
        <p:spPr>
          <a:xfrm>
            <a:off x="4617720" y="4142232"/>
            <a:ext cx="2971800" cy="685800"/>
          </a:xfrm>
          <a:prstGeom prst="rect">
            <a:avLst/>
          </a:prstGeom>
          <a:noFill/>
        </p:spPr>
        <p:txBody>
          <a:bodyPr wrap="none">
            <a:spAutoFit/>
          </a:bodyPr>
          <a:lstStyle/>
          <a:p>
            <a:r>
              <a:t>Java file-based storage and structured project data management.</a:t>
            </a:r>
          </a:p>
        </p:txBody>
      </p:sp>
      <p:sp>
        <p:nvSpPr>
          <p:cNvPr id="30" name="Rounded Rectangle 29"/>
          <p:cNvSpPr/>
          <p:nvPr/>
        </p:nvSpPr>
        <p:spPr>
          <a:xfrm>
            <a:off x="8092440" y="3429000"/>
            <a:ext cx="3429000" cy="155448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293608" y="363016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93608" y="3694176"/>
            <a:ext cx="502920" cy="320040"/>
          </a:xfrm>
          <a:prstGeom prst="rect">
            <a:avLst/>
          </a:prstGeom>
          <a:noFill/>
        </p:spPr>
        <p:txBody>
          <a:bodyPr wrap="none">
            <a:spAutoFit/>
          </a:bodyPr>
          <a:lstStyle/>
          <a:p>
            <a:pPr algn="ctr">
              <a:defRPr sz="1400" b="1">
                <a:solidFill>
                  <a:srgbClr val="FFFFFF"/>
                </a:solidFill>
              </a:defRPr>
            </a:pPr>
            <a:r>
              <a:t>A</a:t>
            </a:r>
          </a:p>
        </p:txBody>
      </p:sp>
      <p:sp>
        <p:nvSpPr>
          <p:cNvPr id="33" name="TextBox 32"/>
          <p:cNvSpPr txBox="1"/>
          <p:nvPr/>
        </p:nvSpPr>
        <p:spPr>
          <a:xfrm>
            <a:off x="8915400" y="3611880"/>
            <a:ext cx="2423159" cy="411480"/>
          </a:xfrm>
          <a:prstGeom prst="rect">
            <a:avLst/>
          </a:prstGeom>
          <a:noFill/>
        </p:spPr>
        <p:txBody>
          <a:bodyPr wrap="none">
            <a:spAutoFit/>
          </a:bodyPr>
          <a:lstStyle/>
          <a:p>
            <a:pPr>
              <a:defRPr sz="1700" b="1">
                <a:solidFill>
                  <a:srgbClr val="14233C"/>
                </a:solidFill>
              </a:defRPr>
            </a:pPr>
            <a:r>
              <a:t>Algorithms</a:t>
            </a:r>
          </a:p>
        </p:txBody>
      </p:sp>
      <p:sp>
        <p:nvSpPr>
          <p:cNvPr id="34" name="TextBox 33"/>
          <p:cNvSpPr txBox="1"/>
          <p:nvPr/>
        </p:nvSpPr>
        <p:spPr>
          <a:xfrm>
            <a:off x="8321040" y="4142232"/>
            <a:ext cx="2468880" cy="492443"/>
          </a:xfrm>
          <a:prstGeom prst="rect">
            <a:avLst/>
          </a:prstGeom>
          <a:noFill/>
        </p:spPr>
        <p:txBody>
          <a:bodyPr wrap="square">
            <a:spAutoFit/>
          </a:bodyPr>
          <a:lstStyle/>
          <a:p>
            <a:r>
              <a:t>BFS, DFS, Queue, Stack and graph processing algorithms for scheduling.</a:t>
            </a:r>
          </a:p>
        </p:txBody>
      </p:sp>
      <p:sp>
        <p:nvSpPr>
          <p:cNvPr id="35" name="TextBox 34"/>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pPr>
              <a:defRPr sz="2700" b="1">
                <a:solidFill>
                  <a:srgbClr val="14233C"/>
                </a:solidFill>
              </a:defRPr>
            </a:pPr>
            <a:r>
              <a:t>Expected Outcome</a:t>
            </a:r>
          </a:p>
        </p:txBody>
      </p:sp>
      <p:sp>
        <p:nvSpPr>
          <p:cNvPr id="5" name="Rounded Rectangle 4"/>
          <p:cNvSpPr/>
          <p:nvPr/>
        </p:nvSpPr>
        <p:spPr>
          <a:xfrm>
            <a:off x="777240" y="1463040"/>
            <a:ext cx="5120640" cy="169164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66420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728216"/>
            <a:ext cx="502920" cy="320040"/>
          </a:xfrm>
          <a:prstGeom prst="rect">
            <a:avLst/>
          </a:prstGeom>
          <a:noFill/>
        </p:spPr>
        <p:txBody>
          <a:bodyPr wrap="none">
            <a:spAutoFit/>
          </a:bodyPr>
          <a:lstStyle/>
          <a:p>
            <a:pPr algn="ctr">
              <a:defRPr sz="1400" b="1">
                <a:solidFill>
                  <a:srgbClr val="FFFFFF"/>
                </a:solidFill>
              </a:defRPr>
            </a:pPr>
            <a:r>
              <a:t>1</a:t>
            </a:r>
          </a:p>
        </p:txBody>
      </p:sp>
      <p:sp>
        <p:nvSpPr>
          <p:cNvPr id="8" name="TextBox 7"/>
          <p:cNvSpPr txBox="1"/>
          <p:nvPr/>
        </p:nvSpPr>
        <p:spPr>
          <a:xfrm>
            <a:off x="1600200" y="1645920"/>
            <a:ext cx="4114799" cy="411480"/>
          </a:xfrm>
          <a:prstGeom prst="rect">
            <a:avLst/>
          </a:prstGeom>
          <a:noFill/>
        </p:spPr>
        <p:txBody>
          <a:bodyPr wrap="none">
            <a:spAutoFit/>
          </a:bodyPr>
          <a:lstStyle/>
          <a:p>
            <a:r>
              <a:t>Research-Based Tasks</a:t>
            </a:r>
          </a:p>
        </p:txBody>
      </p:sp>
      <p:sp>
        <p:nvSpPr>
          <p:cNvPr id="9" name="TextBox 8"/>
          <p:cNvSpPr txBox="1"/>
          <p:nvPr/>
        </p:nvSpPr>
        <p:spPr>
          <a:xfrm>
            <a:off x="1005840" y="2176272"/>
            <a:ext cx="3830111" cy="646331"/>
          </a:xfrm>
          <a:prstGeom prst="rect">
            <a:avLst/>
          </a:prstGeom>
          <a:noFill/>
        </p:spPr>
        <p:txBody>
          <a:bodyPr wrap="square">
            <a:spAutoFit/>
          </a:bodyPr>
          <a:lstStyle/>
          <a:p>
            <a:r>
              <a:rPr dirty="0"/>
              <a:t>Use research papers to identify relevant project topics and tasks.</a:t>
            </a:r>
          </a:p>
        </p:txBody>
      </p:sp>
      <p:sp>
        <p:nvSpPr>
          <p:cNvPr id="10" name="Rounded Rectangle 9"/>
          <p:cNvSpPr/>
          <p:nvPr/>
        </p:nvSpPr>
        <p:spPr>
          <a:xfrm>
            <a:off x="6263640" y="1463040"/>
            <a:ext cx="5120640" cy="169164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64807" y="166420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7" y="1728216"/>
            <a:ext cx="502920" cy="320040"/>
          </a:xfrm>
          <a:prstGeom prst="rect">
            <a:avLst/>
          </a:prstGeom>
          <a:noFill/>
        </p:spPr>
        <p:txBody>
          <a:bodyPr wrap="none">
            <a:spAutoFit/>
          </a:bodyPr>
          <a:lstStyle/>
          <a:p>
            <a:pPr algn="ctr">
              <a:defRPr sz="1400" b="1">
                <a:solidFill>
                  <a:srgbClr val="FFFFFF"/>
                </a:solidFill>
              </a:defRPr>
            </a:pPr>
            <a:r>
              <a:t>2</a:t>
            </a:r>
          </a:p>
        </p:txBody>
      </p:sp>
      <p:sp>
        <p:nvSpPr>
          <p:cNvPr id="13" name="TextBox 12"/>
          <p:cNvSpPr txBox="1"/>
          <p:nvPr/>
        </p:nvSpPr>
        <p:spPr>
          <a:xfrm>
            <a:off x="7086600" y="1645920"/>
            <a:ext cx="4114799" cy="411480"/>
          </a:xfrm>
          <a:prstGeom prst="rect">
            <a:avLst/>
          </a:prstGeom>
          <a:noFill/>
        </p:spPr>
        <p:txBody>
          <a:bodyPr wrap="none">
            <a:spAutoFit/>
          </a:bodyPr>
          <a:lstStyle/>
          <a:p>
            <a:r>
              <a:t>Task Dependencies</a:t>
            </a:r>
          </a:p>
        </p:txBody>
      </p:sp>
      <p:sp>
        <p:nvSpPr>
          <p:cNvPr id="14" name="TextBox 13"/>
          <p:cNvSpPr txBox="1"/>
          <p:nvPr/>
        </p:nvSpPr>
        <p:spPr>
          <a:xfrm>
            <a:off x="6492240" y="2176272"/>
            <a:ext cx="4114799" cy="646331"/>
          </a:xfrm>
          <a:prstGeom prst="rect">
            <a:avLst/>
          </a:prstGeom>
          <a:noFill/>
        </p:spPr>
        <p:txBody>
          <a:bodyPr wrap="square">
            <a:spAutoFit/>
          </a:bodyPr>
          <a:lstStyle/>
          <a:p>
            <a:r>
              <a:rPr dirty="0"/>
              <a:t>Understand the order and dependencies between project tasks.</a:t>
            </a:r>
          </a:p>
        </p:txBody>
      </p:sp>
      <p:sp>
        <p:nvSpPr>
          <p:cNvPr id="15" name="Rounded Rectangle 14"/>
          <p:cNvSpPr/>
          <p:nvPr/>
        </p:nvSpPr>
        <p:spPr>
          <a:xfrm>
            <a:off x="777240" y="3611880"/>
            <a:ext cx="5120640" cy="169164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78408" y="381304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3877056"/>
            <a:ext cx="502920" cy="320040"/>
          </a:xfrm>
          <a:prstGeom prst="rect">
            <a:avLst/>
          </a:prstGeom>
          <a:noFill/>
        </p:spPr>
        <p:txBody>
          <a:bodyPr wrap="none">
            <a:spAutoFit/>
          </a:bodyPr>
          <a:lstStyle/>
          <a:p>
            <a:pPr algn="ctr">
              <a:defRPr sz="1400" b="1">
                <a:solidFill>
                  <a:srgbClr val="FFFFFF"/>
                </a:solidFill>
              </a:defRPr>
            </a:pPr>
            <a:r>
              <a:t>3</a:t>
            </a:r>
          </a:p>
        </p:txBody>
      </p:sp>
      <p:sp>
        <p:nvSpPr>
          <p:cNvPr id="18" name="TextBox 17"/>
          <p:cNvSpPr txBox="1"/>
          <p:nvPr/>
        </p:nvSpPr>
        <p:spPr>
          <a:xfrm>
            <a:off x="1600200" y="3794760"/>
            <a:ext cx="4114799" cy="411480"/>
          </a:xfrm>
          <a:prstGeom prst="rect">
            <a:avLst/>
          </a:prstGeom>
          <a:noFill/>
        </p:spPr>
        <p:txBody>
          <a:bodyPr wrap="none">
            <a:spAutoFit/>
          </a:bodyPr>
          <a:lstStyle/>
          <a:p>
            <a:r>
              <a:t>Organized Schedule</a:t>
            </a:r>
          </a:p>
        </p:txBody>
      </p:sp>
      <p:sp>
        <p:nvSpPr>
          <p:cNvPr id="19" name="TextBox 18"/>
          <p:cNvSpPr txBox="1"/>
          <p:nvPr/>
        </p:nvSpPr>
        <p:spPr>
          <a:xfrm>
            <a:off x="1005840" y="4325112"/>
            <a:ext cx="4282597" cy="671094"/>
          </a:xfrm>
          <a:prstGeom prst="rect">
            <a:avLst/>
          </a:prstGeom>
          <a:noFill/>
        </p:spPr>
        <p:txBody>
          <a:bodyPr wrap="square">
            <a:spAutoFit/>
          </a:bodyPr>
          <a:lstStyle/>
          <a:p>
            <a:r>
              <a:rPr dirty="0"/>
              <a:t>Present task dependencies and the resulting project schedule clearly.</a:t>
            </a:r>
          </a:p>
        </p:txBody>
      </p:sp>
      <p:sp>
        <p:nvSpPr>
          <p:cNvPr id="20" name="Rounded Rectangle 19"/>
          <p:cNvSpPr/>
          <p:nvPr/>
        </p:nvSpPr>
        <p:spPr>
          <a:xfrm>
            <a:off x="6294122" y="3657600"/>
            <a:ext cx="5120640" cy="1691640"/>
          </a:xfrm>
          <a:prstGeom prst="roundRect">
            <a:avLst/>
          </a:prstGeom>
          <a:solidFill>
            <a:srgbClr val="F2F6FB"/>
          </a:solidFill>
          <a:ln>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64807" y="3813048"/>
            <a:ext cx="502920" cy="502920"/>
          </a:xfrm>
          <a:prstGeom prst="ellipse">
            <a:avLst/>
          </a:prstGeom>
          <a:solidFill>
            <a:srgbClr val="2D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7" y="3877056"/>
            <a:ext cx="502920" cy="320040"/>
          </a:xfrm>
          <a:prstGeom prst="rect">
            <a:avLst/>
          </a:prstGeom>
          <a:noFill/>
        </p:spPr>
        <p:txBody>
          <a:bodyPr wrap="none">
            <a:spAutoFit/>
          </a:bodyPr>
          <a:lstStyle/>
          <a:p>
            <a:pPr algn="ctr">
              <a:defRPr sz="1400" b="1">
                <a:solidFill>
                  <a:srgbClr val="FFFFFF"/>
                </a:solidFill>
              </a:defRPr>
            </a:pPr>
            <a:r>
              <a:t>4</a:t>
            </a:r>
          </a:p>
        </p:txBody>
      </p:sp>
      <p:sp>
        <p:nvSpPr>
          <p:cNvPr id="23" name="TextBox 22"/>
          <p:cNvSpPr txBox="1"/>
          <p:nvPr/>
        </p:nvSpPr>
        <p:spPr>
          <a:xfrm>
            <a:off x="7086600" y="3794760"/>
            <a:ext cx="4114799" cy="411480"/>
          </a:xfrm>
          <a:prstGeom prst="rect">
            <a:avLst/>
          </a:prstGeom>
          <a:noFill/>
        </p:spPr>
        <p:txBody>
          <a:bodyPr wrap="none">
            <a:spAutoFit/>
          </a:bodyPr>
          <a:lstStyle/>
          <a:p>
            <a:r>
              <a:t>Project Planning Support</a:t>
            </a:r>
          </a:p>
        </p:txBody>
      </p:sp>
      <p:sp>
        <p:nvSpPr>
          <p:cNvPr id="24" name="TextBox 23"/>
          <p:cNvSpPr txBox="1"/>
          <p:nvPr/>
        </p:nvSpPr>
        <p:spPr>
          <a:xfrm>
            <a:off x="6492240" y="4325112"/>
            <a:ext cx="3848964" cy="646331"/>
          </a:xfrm>
          <a:prstGeom prst="rect">
            <a:avLst/>
          </a:prstGeom>
          <a:noFill/>
        </p:spPr>
        <p:txBody>
          <a:bodyPr wrap="square">
            <a:spAutoFit/>
          </a:bodyPr>
          <a:lstStyle/>
          <a:p>
            <a:r>
              <a:rPr dirty="0"/>
              <a:t>Help users plan and execute research-oriented projects systematically.</a:t>
            </a:r>
          </a:p>
        </p:txBody>
      </p:sp>
      <p:sp>
        <p:nvSpPr>
          <p:cNvPr id="25" name="Rounded Rectangle 24"/>
          <p:cNvSpPr/>
          <p:nvPr/>
        </p:nvSpPr>
        <p:spPr>
          <a:xfrm>
            <a:off x="1051560" y="5715000"/>
            <a:ext cx="10058400" cy="50292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34440" y="5815584"/>
            <a:ext cx="9692640" cy="274320"/>
          </a:xfrm>
          <a:prstGeom prst="rect">
            <a:avLst/>
          </a:prstGeom>
          <a:noFill/>
        </p:spPr>
        <p:txBody>
          <a:bodyPr wrap="none">
            <a:spAutoFit/>
          </a:bodyPr>
          <a:lstStyle/>
          <a:p>
            <a:r>
              <a:t>Goal: Use research information and DSA to generate an organized project schedule.</a:t>
            </a:r>
          </a:p>
        </p:txBody>
      </p:sp>
      <p:sp>
        <p:nvSpPr>
          <p:cNvPr id="27" name="TextBox 26"/>
          <p:cNvSpPr txBox="1"/>
          <p:nvPr/>
        </p:nvSpPr>
        <p:spPr>
          <a:xfrm>
            <a:off x="10789920" y="6446520"/>
            <a:ext cx="731520" cy="228600"/>
          </a:xfrm>
          <a:prstGeom prst="rect">
            <a:avLst/>
          </a:prstGeom>
          <a:noFill/>
        </p:spPr>
        <p:txBody>
          <a:bodyPr wrap="none">
            <a:spAutoFit/>
          </a:bodyPr>
          <a:lstStyle/>
          <a:p>
            <a:pPr algn="r">
              <a:defRPr sz="1000">
                <a:solidFill>
                  <a:srgbClr val="5F6978"/>
                </a:solidFill>
              </a:defRPr>
            </a:pPr>
            <a: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510</Words>
  <Application>Microsoft Office PowerPoint</Application>
  <PresentationFormat>Widescreen</PresentationFormat>
  <Paragraphs>72</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generated using python-pptx</dc:description>
  <cp:lastModifiedBy>User</cp:lastModifiedBy>
  <cp:revision>6</cp:revision>
  <dcterms:created xsi:type="dcterms:W3CDTF">2013-01-27T09:14:16Z</dcterms:created>
  <dcterms:modified xsi:type="dcterms:W3CDTF">2026-08-20T06:09:31Z</dcterms:modified>
  <cp:category/>
</cp:coreProperties>
</file>